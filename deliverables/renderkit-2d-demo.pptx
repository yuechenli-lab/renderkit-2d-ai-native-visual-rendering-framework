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score</c:v>
                </c:pt>
              </c:strCache>
            </c:strRef>
          </c:tx>
          <c:spPr>
            <a:solidFill>
              <a:srgbClr val="006C67"/>
            </a:solidFill>
            <a:effectLst/>
          </c:spPr>
          <c:invertIfNegative val="0"/>
          <c:dLbls>
            <c:numFmt formatCode="0.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C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C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61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16D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K-Means</c:v>
                  </c:pt>
                  <c:pt idx="1">
                    <c:v>DBSCAN</c:v>
                  </c:pt>
                  <c:pt idx="2">
                    <c:v>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0.83</c:v>
                </c:pt>
                <c:pt idx="2">
                  <c:v>0.54</c:v>
                </c:pt>
              </c:numCache>
            </c:numRef>
          </c:val>
        </c:ser>
        <c:dLbls>
          <c:numFmt formatCode="0.###" sourceLinked="0"/>
          <c:txPr>
            <a:bodyPr/>
            <a:lstStyle/>
            <a:p>
              <a:pPr>
                <a:defRPr b="0" i="0" strike="noStrike" sz="1200" u="none">
                  <a:solidFill>
                    <a:srgbClr val="152C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C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DA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FDA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C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C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semantic model. Multiple editable visual outputs.
Reference the sources attached to this slide.
Sources:
RenderKit 2D v0.1 demonstration — Framework demonstration, not an empirical research study.
src-demo: RenderKit 2D v0.1 demonstration — Framework demonstration, not an empirical research study.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algorithm to match the geometry of the problem.
Reference the sources attached to this slide.
Sources:
scikit-learn clustering guide — https://scikit-learn.org/stable/modules/clustering.html
src-cluster: scikit-learn clustering guide (https://scikit-learn.org/stable/modules/clustering.html)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Minimize within-cluster squared distance to the centroids.
Reference the sources attached to this slide.
Sources:
scikit-learn K-Means documentation — https://scikit-learn.org/stable/modules/clustering.html#k-means
src-objective: scikit-learn K-Means documentation (https://scikit-learn.org/stable/modules/clustering.html#k-means)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IR connects planning, rendering and quality control.
No external evidence supplied; do not present this as a validated empirical claim.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metrics below are simulated and are not research findings.
Reference the sources attached to this slide.
Sources:
Hand-authored simulated data — Values exist solely to exercise table/chart fidelity; no real experiment was run.
src-simulated: Hand-authored simulated data — Values exist solely to exercise table/chart fidelity; no real experiment was run.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Aspect-preserving image panels retain the geometry of a figure.
Reference the sources attached to this slide.
Sources:
Generated demo illustration — Synthetic points are illustrative, not measured observations.
src-figure: Generated demo illustration — Synthetic points are illustrative, not measured observations.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 capabilities only after the rendering loop is reliable.
No external evidence supplied; do not present this as a validated empirical claim.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distinction between layout validation and factual correctness. All numerical experiment values in this deck are simulated.
Editability: text, tables, charts and basic shapes are native PowerPoint objects. Formula objects are SVG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</a:t>
            </a:r>
            <a:endParaRPr lang="en-US" sz="3600" dirty="0"/>
          </a:p>
        </p:txBody>
      </p:sp>
      <p:sp>
        <p:nvSpPr>
          <p:cNvPr id="3" name="intro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semantic model. Multiple editable visual outputs.</a:t>
            </a:r>
            <a:endParaRPr lang="en-US" sz="1650" dirty="0"/>
          </a:p>
        </p:txBody>
      </p:sp>
      <p:sp>
        <p:nvSpPr>
          <p:cNvPr id="4" name="intro-overview:background"/>
          <p:cNvSpPr/>
          <p:nvPr/>
        </p:nvSpPr>
        <p:spPr>
          <a:xfrm>
            <a:off x="609600" y="2190750"/>
            <a:ext cx="10972800" cy="1752600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5" name="intro-overview"/>
          <p:cNvSpPr/>
          <p:nvPr/>
        </p:nvSpPr>
        <p:spPr>
          <a:xfrm>
            <a:off x="609600" y="2190750"/>
            <a:ext cx="109728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5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framework for teaching, research and engineering communication.</a:t>
            </a:r>
            <a:endParaRPr lang="en-US" sz="2250" dirty="0"/>
          </a:p>
          <a:p>
            <a:pPr indent="0" marL="0">
              <a:spcAft>
                <a:spcPts val="500"/>
              </a:spcAft>
              <a:buNone/>
            </a:pPr>
            <a:endParaRPr lang="en-US" sz="2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25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message. Render the evidence. Verify the result.</a:t>
            </a:r>
            <a:endParaRPr lang="en-US" sz="2250" dirty="0"/>
          </a:p>
        </p:txBody>
      </p:sp>
      <p:sp>
        <p:nvSpPr>
          <p:cNvPr id="6" name="intro-flow:edge:1"/>
          <p:cNvSpPr/>
          <p:nvPr/>
        </p:nvSpPr>
        <p:spPr>
          <a:xfrm>
            <a:off x="3067050" y="500062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7" name="intro-flow:edge:2"/>
          <p:cNvSpPr/>
          <p:nvPr/>
        </p:nvSpPr>
        <p:spPr>
          <a:xfrm>
            <a:off x="5905500" y="500062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8" name="intro-flow:edge:3"/>
          <p:cNvSpPr/>
          <p:nvPr/>
        </p:nvSpPr>
        <p:spPr>
          <a:xfrm>
            <a:off x="8743950" y="500062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9" name="intro-flow:step:0:background"/>
          <p:cNvSpPr/>
          <p:nvPr/>
        </p:nvSpPr>
        <p:spPr>
          <a:xfrm>
            <a:off x="609600" y="447675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0" name="intro-flow:step:0"/>
          <p:cNvSpPr/>
          <p:nvPr/>
        </p:nvSpPr>
        <p:spPr>
          <a:xfrm>
            <a:off x="704850" y="455295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IR</a:t>
            </a:r>
            <a:endParaRPr lang="en-US" sz="1800" dirty="0"/>
          </a:p>
        </p:txBody>
      </p:sp>
      <p:sp>
        <p:nvSpPr>
          <p:cNvPr id="11" name="intro-flow:step:1:background"/>
          <p:cNvSpPr/>
          <p:nvPr/>
        </p:nvSpPr>
        <p:spPr>
          <a:xfrm>
            <a:off x="3448050" y="447675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2" name="intro-flow:step:1"/>
          <p:cNvSpPr/>
          <p:nvPr/>
        </p:nvSpPr>
        <p:spPr>
          <a:xfrm>
            <a:off x="3543300" y="455295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rules</a:t>
            </a:r>
            <a:endParaRPr lang="en-US" sz="1800" dirty="0"/>
          </a:p>
        </p:txBody>
      </p:sp>
      <p:sp>
        <p:nvSpPr>
          <p:cNvPr id="13" name="intro-flow:step:2:background"/>
          <p:cNvSpPr/>
          <p:nvPr/>
        </p:nvSpPr>
        <p:spPr>
          <a:xfrm>
            <a:off x="6286500" y="447675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4" name="intro-flow:step:2"/>
          <p:cNvSpPr/>
          <p:nvPr/>
        </p:nvSpPr>
        <p:spPr>
          <a:xfrm>
            <a:off x="6381750" y="455295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PPTX</a:t>
            </a:r>
            <a:endParaRPr lang="en-US" sz="1800" dirty="0"/>
          </a:p>
        </p:txBody>
      </p:sp>
      <p:sp>
        <p:nvSpPr>
          <p:cNvPr id="15" name="intro-flow:step:3:background"/>
          <p:cNvSpPr/>
          <p:nvPr/>
        </p:nvSpPr>
        <p:spPr>
          <a:xfrm>
            <a:off x="9124950" y="447675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6" name="intro-flow:step:3"/>
          <p:cNvSpPr/>
          <p:nvPr/>
        </p:nvSpPr>
        <p:spPr>
          <a:xfrm>
            <a:off x="9220200" y="455295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repair</a:t>
            </a:r>
            <a:endParaRPr lang="en-US" sz="1800" dirty="0"/>
          </a:p>
        </p:txBody>
      </p:sp>
      <p:sp>
        <p:nvSpPr>
          <p:cNvPr id="17" name="intro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01 / 08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ing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starts with an assumption</a:t>
            </a:r>
            <a:endParaRPr lang="en-US" sz="3600" dirty="0"/>
          </a:p>
        </p:txBody>
      </p:sp>
      <p:sp>
        <p:nvSpPr>
          <p:cNvPr id="3" name="clustering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algorithm to match the geometry of the problem.</a:t>
            </a:r>
            <a:endParaRPr lang="en-US" sz="1650" dirty="0"/>
          </a:p>
        </p:txBody>
      </p:sp>
      <p:sp>
        <p:nvSpPr>
          <p:cNvPr id="4" name="kmeans:background"/>
          <p:cNvSpPr/>
          <p:nvPr/>
        </p:nvSpPr>
        <p:spPr>
          <a:xfrm>
            <a:off x="609600" y="1905000"/>
            <a:ext cx="5353050" cy="409575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5" name="kmeans"/>
          <p:cNvSpPr/>
          <p:nvPr/>
        </p:nvSpPr>
        <p:spPr>
          <a:xfrm>
            <a:off x="609600" y="1905000"/>
            <a:ext cx="5353050" cy="409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each point to its nearest centroid.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centroids and repeat.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suited to compact, roughly spherical groups.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the number of clusters k.</a:t>
            </a:r>
            <a:endParaRPr lang="en-US" sz="1800" dirty="0"/>
          </a:p>
        </p:txBody>
      </p:sp>
      <p:sp>
        <p:nvSpPr>
          <p:cNvPr id="6" name="dbscan:background"/>
          <p:cNvSpPr/>
          <p:nvPr/>
        </p:nvSpPr>
        <p:spPr>
          <a:xfrm>
            <a:off x="6229350" y="1905000"/>
            <a:ext cx="5353050" cy="409575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7" name="dbscan"/>
          <p:cNvSpPr/>
          <p:nvPr/>
        </p:nvSpPr>
        <p:spPr>
          <a:xfrm>
            <a:off x="6229350" y="1905000"/>
            <a:ext cx="5353050" cy="409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clusters through dense neighborhoods.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isolated observations as noise.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recover irregular cluster shapes.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ε and minPts.</a:t>
            </a:r>
            <a:endParaRPr lang="en-US" sz="1800" dirty="0"/>
          </a:p>
        </p:txBody>
      </p:sp>
      <p:sp>
        <p:nvSpPr>
          <p:cNvPr id="8" name="clustering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02 / 08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ive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K-Means objective</a:t>
            </a:r>
            <a:endParaRPr lang="en-US" sz="3600" dirty="0"/>
          </a:p>
        </p:txBody>
      </p:sp>
      <p:sp>
        <p:nvSpPr>
          <p:cNvPr id="3" name="objective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within-cluster squared distance to the centroids.</a:t>
            </a:r>
            <a:endParaRPr lang="en-US" sz="1650" dirty="0"/>
          </a:p>
        </p:txBody>
      </p:sp>
      <p:sp>
        <p:nvSpPr>
          <p:cNvPr id="4" name="kmeans-formula:background"/>
          <p:cNvSpPr/>
          <p:nvPr/>
        </p:nvSpPr>
        <p:spPr>
          <a:xfrm>
            <a:off x="609600" y="1905000"/>
            <a:ext cx="10972800" cy="219075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pic>
        <p:nvPicPr>
          <p:cNvPr id="5" name="kmeans-formula" descr="Formula: \underset{\{C_j,\mu_j\}_{j=1}^{k}}{\operatorname{minimize}}\quad \sum_{j=1}^{k}\sum_{x_i\in C_j}\lVert x_i-\mu_j\rVert_2^2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4761" y="2371996"/>
            <a:ext cx="3002478" cy="723359"/>
          </a:xfrm>
          <a:prstGeom prst="rect">
            <a:avLst/>
          </a:prstGeom>
        </p:spPr>
      </p:pic>
      <p:sp>
        <p:nvSpPr>
          <p:cNvPr id="6" name="kmeans-formula:caption"/>
          <p:cNvSpPr/>
          <p:nvPr/>
        </p:nvSpPr>
        <p:spPr>
          <a:xfrm>
            <a:off x="838200" y="3562350"/>
            <a:ext cx="10515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Cⱼ is a cluster; μⱼ is its centroid.</a:t>
            </a:r>
            <a:endParaRPr lang="en-US" sz="1350" dirty="0"/>
          </a:p>
        </p:txBody>
      </p:sp>
      <p:sp>
        <p:nvSpPr>
          <p:cNvPr id="7" name="objective-note:background"/>
          <p:cNvSpPr/>
          <p:nvPr/>
        </p:nvSpPr>
        <p:spPr>
          <a:xfrm>
            <a:off x="609600" y="4362450"/>
            <a:ext cx="10972800" cy="154305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8" name="objective-note"/>
          <p:cNvSpPr/>
          <p:nvPr/>
        </p:nvSpPr>
        <p:spPr>
          <a:xfrm>
            <a:off x="609600" y="4362450"/>
            <a:ext cx="1097280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and centroid updates alternate until convergence.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can reach a local minimum; initialization matters.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affects the distance metric.</a:t>
            </a:r>
            <a:endParaRPr lang="en-US" sz="1800" dirty="0"/>
          </a:p>
        </p:txBody>
      </p:sp>
      <p:sp>
        <p:nvSpPr>
          <p:cNvPr id="9" name="objective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03 / 08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-system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share a verifiable contract</a:t>
            </a:r>
            <a:endParaRPr lang="en-US" sz="3600" dirty="0"/>
          </a:p>
        </p:txBody>
      </p:sp>
      <p:sp>
        <p:nvSpPr>
          <p:cNvPr id="3" name="agent-system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 connects planning, rendering and quality control.</a:t>
            </a:r>
            <a:endParaRPr lang="en-US" sz="1650" dirty="0"/>
          </a:p>
        </p:txBody>
      </p:sp>
      <p:sp>
        <p:nvSpPr>
          <p:cNvPr id="4" name="agent-architecture:edge:0"/>
          <p:cNvSpPr/>
          <p:nvPr/>
        </p:nvSpPr>
        <p:spPr>
          <a:xfrm>
            <a:off x="3822700" y="2619375"/>
            <a:ext cx="66675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5" name="agent-architecture:edge:1"/>
          <p:cNvSpPr/>
          <p:nvPr/>
        </p:nvSpPr>
        <p:spPr>
          <a:xfrm>
            <a:off x="7702550" y="2619375"/>
            <a:ext cx="66675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6" name="agent-architecture:edge:2"/>
          <p:cNvSpPr/>
          <p:nvPr/>
        </p:nvSpPr>
        <p:spPr>
          <a:xfrm flipH="1">
            <a:off x="2216150" y="3095625"/>
            <a:ext cx="7759700" cy="762000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7" name="agent-architecture:edge:3"/>
          <p:cNvSpPr/>
          <p:nvPr/>
        </p:nvSpPr>
        <p:spPr>
          <a:xfrm>
            <a:off x="3822700" y="4333875"/>
            <a:ext cx="66675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8" name="agent-architecture:edge:4"/>
          <p:cNvSpPr/>
          <p:nvPr/>
        </p:nvSpPr>
        <p:spPr>
          <a:xfrm>
            <a:off x="7702550" y="4333875"/>
            <a:ext cx="66675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9" name="agent-architecture:edge:5:out"/>
          <p:cNvSpPr/>
          <p:nvPr/>
        </p:nvSpPr>
        <p:spPr>
          <a:xfrm>
            <a:off x="9975850" y="4810125"/>
            <a:ext cx="95" cy="228600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</a:ln>
        </p:spPr>
      </p:sp>
      <p:sp>
        <p:nvSpPr>
          <p:cNvPr id="10" name="agent-architecture:edge:5:return"/>
          <p:cNvSpPr/>
          <p:nvPr/>
        </p:nvSpPr>
        <p:spPr>
          <a:xfrm flipH="1">
            <a:off x="2216150" y="5038725"/>
            <a:ext cx="77597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</a:ln>
        </p:spPr>
      </p:sp>
      <p:sp>
        <p:nvSpPr>
          <p:cNvPr id="11" name="agent-architecture:edge:5"/>
          <p:cNvSpPr/>
          <p:nvPr/>
        </p:nvSpPr>
        <p:spPr>
          <a:xfrm flipV="1">
            <a:off x="2216150" y="4810125"/>
            <a:ext cx="95" cy="228600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12" name="agent-architecture:edge-label:5"/>
          <p:cNvSpPr/>
          <p:nvPr/>
        </p:nvSpPr>
        <p:spPr>
          <a:xfrm>
            <a:off x="5524500" y="48101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re-render</a:t>
            </a:r>
            <a:endParaRPr lang="en-US" sz="1350" dirty="0"/>
          </a:p>
        </p:txBody>
      </p:sp>
      <p:sp>
        <p:nvSpPr>
          <p:cNvPr id="13" name="agent-architecture:node:input:background"/>
          <p:cNvSpPr/>
          <p:nvPr/>
        </p:nvSpPr>
        <p:spPr>
          <a:xfrm>
            <a:off x="609600" y="21431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4" name="agent-architecture:node:input"/>
          <p:cNvSpPr/>
          <p:nvPr/>
        </p:nvSpPr>
        <p:spPr>
          <a:xfrm>
            <a:off x="704850" y="22193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parser</a:t>
            </a:r>
            <a:endParaRPr lang="en-US" sz="1800" dirty="0"/>
          </a:p>
        </p:txBody>
      </p:sp>
      <p:sp>
        <p:nvSpPr>
          <p:cNvPr id="15" name="agent-architecture:node:planner:background"/>
          <p:cNvSpPr/>
          <p:nvPr/>
        </p:nvSpPr>
        <p:spPr>
          <a:xfrm>
            <a:off x="4489450" y="21431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6" name="agent-architecture:node:planner"/>
          <p:cNvSpPr/>
          <p:nvPr/>
        </p:nvSpPr>
        <p:spPr>
          <a:xfrm>
            <a:off x="4584700" y="22193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planner</a:t>
            </a:r>
            <a:endParaRPr lang="en-US" sz="1800" dirty="0"/>
          </a:p>
        </p:txBody>
      </p:sp>
      <p:sp>
        <p:nvSpPr>
          <p:cNvPr id="17" name="agent-architecture:node:ir:background"/>
          <p:cNvSpPr/>
          <p:nvPr/>
        </p:nvSpPr>
        <p:spPr>
          <a:xfrm>
            <a:off x="8369300" y="21431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8" name="agent-architecture:node:ir"/>
          <p:cNvSpPr/>
          <p:nvPr/>
        </p:nvSpPr>
        <p:spPr>
          <a:xfrm>
            <a:off x="8464550" y="22193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IR</a:t>
            </a:r>
            <a:endParaRPr lang="en-US" sz="1800" dirty="0"/>
          </a:p>
        </p:txBody>
      </p:sp>
      <p:sp>
        <p:nvSpPr>
          <p:cNvPr id="19" name="agent-architecture:node:renderer:background"/>
          <p:cNvSpPr/>
          <p:nvPr/>
        </p:nvSpPr>
        <p:spPr>
          <a:xfrm>
            <a:off x="609600" y="38576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20" name="agent-architecture:node:renderer"/>
          <p:cNvSpPr/>
          <p:nvPr/>
        </p:nvSpPr>
        <p:spPr>
          <a:xfrm>
            <a:off x="704850" y="39338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PPTX</a:t>
            </a:r>
            <a:endParaRPr lang="en-US" sz="1800" dirty="0"/>
          </a:p>
        </p:txBody>
      </p:sp>
      <p:sp>
        <p:nvSpPr>
          <p:cNvPr id="21" name="agent-architecture:node:audit:background"/>
          <p:cNvSpPr/>
          <p:nvPr/>
        </p:nvSpPr>
        <p:spPr>
          <a:xfrm>
            <a:off x="4489450" y="38576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22" name="agent-architecture:node:audit"/>
          <p:cNvSpPr/>
          <p:nvPr/>
        </p:nvSpPr>
        <p:spPr>
          <a:xfrm>
            <a:off x="4584700" y="39338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auditor</a:t>
            </a:r>
            <a:endParaRPr lang="en-US" sz="1800" dirty="0"/>
          </a:p>
        </p:txBody>
      </p:sp>
      <p:sp>
        <p:nvSpPr>
          <p:cNvPr id="23" name="agent-architecture:node:repair:background"/>
          <p:cNvSpPr/>
          <p:nvPr/>
        </p:nvSpPr>
        <p:spPr>
          <a:xfrm>
            <a:off x="8369300" y="3857625"/>
            <a:ext cx="3213100" cy="95250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24" name="agent-architecture:node:repair"/>
          <p:cNvSpPr/>
          <p:nvPr/>
        </p:nvSpPr>
        <p:spPr>
          <a:xfrm>
            <a:off x="8464550" y="3933825"/>
            <a:ext cx="3022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repair</a:t>
            </a:r>
            <a:endParaRPr lang="en-US" sz="1800" dirty="0"/>
          </a:p>
        </p:txBody>
      </p:sp>
      <p:sp>
        <p:nvSpPr>
          <p:cNvPr id="25" name="agent-boundary:background"/>
          <p:cNvSpPr/>
          <p:nvPr/>
        </p:nvSpPr>
        <p:spPr>
          <a:xfrm>
            <a:off x="609600" y="5314950"/>
            <a:ext cx="10972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26" name="agent-boundary"/>
          <p:cNvSpPr/>
          <p:nvPr/>
        </p:nvSpPr>
        <p:spPr>
          <a:xfrm>
            <a:off x="609600" y="531495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model adapters can propose content; schema validation and render checks remain deterministic.</a:t>
            </a:r>
            <a:endParaRPr lang="en-US" sz="1650" dirty="0"/>
          </a:p>
        </p:txBody>
      </p:sp>
      <p:sp>
        <p:nvSpPr>
          <p:cNvPr id="27" name="agent-system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04 / 08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s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evidence, not decoration</a:t>
            </a:r>
            <a:endParaRPr lang="en-US" sz="3600" dirty="0"/>
          </a:p>
        </p:txBody>
      </p:sp>
      <p:sp>
        <p:nvSpPr>
          <p:cNvPr id="3" name="results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metrics below are simulated and are not research findings.</a:t>
            </a:r>
            <a:endParaRPr lang="en-US" sz="1650" dirty="0"/>
          </a:p>
        </p:txBody>
      </p:sp>
      <p:graphicFrame>
        <p:nvGraphicFramePr>
          <p:cNvPr id="6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05000"/>
          <a:ext cx="5353050" cy="3752850"/>
        </p:xfrm>
        <a:graphic>
          <a:graphicData uri="http://schemas.openxmlformats.org/drawingml/2006/table">
            <a:tbl>
              <a:tblPr/>
              <a:tblGrid>
                <a:gridCol w="1784350"/>
                <a:gridCol w="1784350"/>
                <a:gridCol w="1784350"/>
              </a:tblGrid>
              <a:tr h="938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C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C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7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(ms)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C67"/>
                    </a:solidFill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DBSCAN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52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F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etrics-table:simulation"/>
          <p:cNvSpPr/>
          <p:nvPr/>
        </p:nvSpPr>
        <p:spPr>
          <a:xfrm>
            <a:off x="609600" y="573405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36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· NOT RESEARCH EVIDENCE</a:t>
            </a:r>
            <a:endParaRPr lang="en-US" sz="1350" dirty="0"/>
          </a:p>
        </p:txBody>
      </p:sp>
      <p:graphicFrame>
        <p:nvGraphicFramePr>
          <p:cNvPr id="6" name="metrics-chart" descr="Simulated example data; not research evidence"/>
          <p:cNvGraphicFramePr/>
          <p:nvPr/>
        </p:nvGraphicFramePr>
        <p:xfrm>
          <a:off x="6229350" y="1905000"/>
          <a:ext cx="5353050" cy="3752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metrics-chart:simulation"/>
          <p:cNvSpPr/>
          <p:nvPr/>
        </p:nvSpPr>
        <p:spPr>
          <a:xfrm>
            <a:off x="6229350" y="573405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36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· NOT RESEARCH EVIDENCE</a:t>
            </a:r>
            <a:endParaRPr lang="en-US" sz="1350" dirty="0"/>
          </a:p>
        </p:txBody>
      </p:sp>
      <p:sp>
        <p:nvSpPr>
          <p:cNvPr id="8" name="results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DATA · RENDERKIT 2D / 0.1   ·   05 / 08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visual evidence intact</a:t>
            </a:r>
            <a:endParaRPr lang="en-US" sz="3600" dirty="0"/>
          </a:p>
        </p:txBody>
      </p:sp>
      <p:sp>
        <p:nvSpPr>
          <p:cNvPr id="3" name="figure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Aspect-preserving image panels retain the geometry of a figure.</a:t>
            </a:r>
            <a:endParaRPr lang="en-US" sz="1650" dirty="0"/>
          </a:p>
        </p:txBody>
      </p:sp>
      <p:pic>
        <p:nvPicPr>
          <p:cNvPr id="4" name="cluster-image" descr="Synthetic scatter illustration with two colored point grou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37780"/>
            <a:ext cx="5353050" cy="3011091"/>
          </a:xfrm>
          <a:prstGeom prst="rect">
            <a:avLst/>
          </a:prstGeom>
        </p:spPr>
      </p:pic>
      <p:sp>
        <p:nvSpPr>
          <p:cNvPr id="5" name="cluster-image:caption"/>
          <p:cNvSpPr/>
          <p:nvPr/>
        </p:nvSpPr>
        <p:spPr>
          <a:xfrm>
            <a:off x="609600" y="5657850"/>
            <a:ext cx="535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illustration · 480 × 270 px</a:t>
            </a:r>
            <a:endParaRPr lang="en-US" sz="1350" dirty="0"/>
          </a:p>
        </p:txBody>
      </p:sp>
      <p:sp>
        <p:nvSpPr>
          <p:cNvPr id="6" name="figure-note:background"/>
          <p:cNvSpPr/>
          <p:nvPr/>
        </p:nvSpPr>
        <p:spPr>
          <a:xfrm>
            <a:off x="6229350" y="1905000"/>
            <a:ext cx="5353050" cy="409575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7" name="figure-note"/>
          <p:cNvSpPr/>
          <p:nvPr/>
        </p:nvSpPr>
        <p:spPr>
          <a:xfrm>
            <a:off x="6229350" y="1905000"/>
            <a:ext cx="5353050" cy="409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ILLUSTRATION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hand-generated point groups.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an algorithm result.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locally for offline rendering.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aspect ratio is preserved.</a:t>
            </a:r>
            <a:endParaRPr lang="en-US" sz="1800" dirty="0"/>
          </a:p>
        </p:txBody>
      </p:sp>
      <p:sp>
        <p:nvSpPr>
          <p:cNvPr id="8" name="figure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06 / 08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admap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testable path forward</a:t>
            </a:r>
            <a:endParaRPr lang="en-US" sz="3600" dirty="0"/>
          </a:p>
        </p:txBody>
      </p:sp>
      <p:sp>
        <p:nvSpPr>
          <p:cNvPr id="3" name="roadmap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capabilities only after the rendering loop is reliable.</a:t>
            </a:r>
            <a:endParaRPr lang="en-US" sz="1650" dirty="0"/>
          </a:p>
        </p:txBody>
      </p:sp>
      <p:sp>
        <p:nvSpPr>
          <p:cNvPr id="4" name="roadmap-flow:edge:1"/>
          <p:cNvSpPr/>
          <p:nvPr/>
        </p:nvSpPr>
        <p:spPr>
          <a:xfrm>
            <a:off x="3067050" y="322897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5" name="roadmap-flow:edge:2"/>
          <p:cNvSpPr/>
          <p:nvPr/>
        </p:nvSpPr>
        <p:spPr>
          <a:xfrm>
            <a:off x="5905500" y="322897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6" name="roadmap-flow:edge:3"/>
          <p:cNvSpPr/>
          <p:nvPr/>
        </p:nvSpPr>
        <p:spPr>
          <a:xfrm>
            <a:off x="8743950" y="3228975"/>
            <a:ext cx="381000" cy="95"/>
          </a:xfrm>
          <a:prstGeom prst="line">
            <a:avLst/>
          </a:prstGeom>
          <a:noFill/>
          <a:ln w="20320">
            <a:solidFill>
              <a:srgbClr val="006C67"/>
            </a:solidFill>
            <a:prstDash val="solid"/>
            <a:tailEnd type="triangle"/>
          </a:ln>
        </p:spPr>
      </p:sp>
      <p:sp>
        <p:nvSpPr>
          <p:cNvPr id="7" name="roadmap-flow:step:0:background"/>
          <p:cNvSpPr/>
          <p:nvPr/>
        </p:nvSpPr>
        <p:spPr>
          <a:xfrm>
            <a:off x="609600" y="270510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8" name="roadmap-flow:step:0"/>
          <p:cNvSpPr/>
          <p:nvPr/>
        </p:nvSpPr>
        <p:spPr>
          <a:xfrm>
            <a:off x="704850" y="278130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· Shared IR</a:t>
            </a:r>
            <a:endParaRPr lang="en-US" sz="1800" dirty="0"/>
          </a:p>
        </p:txBody>
      </p:sp>
      <p:sp>
        <p:nvSpPr>
          <p:cNvPr id="9" name="roadmap-flow:step:1:background"/>
          <p:cNvSpPr/>
          <p:nvPr/>
        </p:nvSpPr>
        <p:spPr>
          <a:xfrm>
            <a:off x="3448050" y="270510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0" name="roadmap-flow:step:1"/>
          <p:cNvSpPr/>
          <p:nvPr/>
        </p:nvSpPr>
        <p:spPr>
          <a:xfrm>
            <a:off x="3543300" y="278130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 · Rich layout</a:t>
            </a:r>
            <a:endParaRPr lang="en-US" sz="1800" dirty="0"/>
          </a:p>
        </p:txBody>
      </p:sp>
      <p:sp>
        <p:nvSpPr>
          <p:cNvPr id="11" name="roadmap-flow:step:2:background"/>
          <p:cNvSpPr/>
          <p:nvPr/>
        </p:nvSpPr>
        <p:spPr>
          <a:xfrm>
            <a:off x="6286500" y="270510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2" name="roadmap-flow:step:2"/>
          <p:cNvSpPr/>
          <p:nvPr/>
        </p:nvSpPr>
        <p:spPr>
          <a:xfrm>
            <a:off x="6381750" y="278130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 · Model adapters</a:t>
            </a:r>
            <a:endParaRPr lang="en-US" sz="1800" dirty="0"/>
          </a:p>
        </p:txBody>
      </p:sp>
      <p:sp>
        <p:nvSpPr>
          <p:cNvPr id="13" name="roadmap-flow:step:3:background"/>
          <p:cNvSpPr/>
          <p:nvPr/>
        </p:nvSpPr>
        <p:spPr>
          <a:xfrm>
            <a:off x="9124950" y="2705100"/>
            <a:ext cx="2457450" cy="1047750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4" name="roadmap-flow:step:3"/>
          <p:cNvSpPr/>
          <p:nvPr/>
        </p:nvSpPr>
        <p:spPr>
          <a:xfrm>
            <a:off x="9220200" y="2781300"/>
            <a:ext cx="22669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Stable SDK</a:t>
            </a:r>
            <a:endParaRPr lang="en-US" sz="1800" dirty="0"/>
          </a:p>
        </p:txBody>
      </p:sp>
      <p:sp>
        <p:nvSpPr>
          <p:cNvPr id="15" name="roadmap-note:background"/>
          <p:cNvSpPr/>
          <p:nvPr/>
        </p:nvSpPr>
        <p:spPr>
          <a:xfrm>
            <a:off x="609600" y="4686300"/>
            <a:ext cx="10972800" cy="1314450"/>
          </a:xfrm>
          <a:prstGeom prst="roundRect">
            <a:avLst>
              <a:gd name="adj" fmla="val 8348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16" name="roadmap-note"/>
          <p:cNvSpPr/>
          <p:nvPr/>
        </p:nvSpPr>
        <p:spPr>
          <a:xfrm>
            <a:off x="609600" y="4686300"/>
            <a:ext cx="109728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 ·  Editable exports, geometry checks and safe local repairs.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·  Broader chart coverage, layout policies and rendered PPTX regression tests.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 ·  Optional model adapters and collaborative authoring.</a:t>
            </a:r>
            <a:endParaRPr lang="en-US" sz="1800" dirty="0"/>
          </a:p>
        </p:txBody>
      </p:sp>
      <p:sp>
        <p:nvSpPr>
          <p:cNvPr id="17" name="roadmap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07 / 08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mmary::title"/>
          <p:cNvSpPr/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output inspectable</a:t>
            </a:r>
            <a:endParaRPr lang="en-US" sz="3600" dirty="0"/>
          </a:p>
        </p:txBody>
      </p:sp>
      <p:sp>
        <p:nvSpPr>
          <p:cNvPr id="3" name="summary::message"/>
          <p:cNvSpPr/>
          <p:nvPr/>
        </p:nvSpPr>
        <p:spPr>
          <a:xfrm>
            <a:off x="609600" y="125730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MVP preserves meaning across formats and reports its limits.</a:t>
            </a:r>
            <a:endParaRPr lang="en-US" sz="1650" dirty="0"/>
          </a:p>
        </p:txBody>
      </p:sp>
      <p:sp>
        <p:nvSpPr>
          <p:cNvPr id="4" name="summary-points:background"/>
          <p:cNvSpPr/>
          <p:nvPr/>
        </p:nvSpPr>
        <p:spPr>
          <a:xfrm>
            <a:off x="609600" y="1905000"/>
            <a:ext cx="10972800" cy="409575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CFDAD8"/>
            </a:solidFill>
            <a:prstDash val="solid"/>
          </a:ln>
        </p:spPr>
      </p:sp>
      <p:sp>
        <p:nvSpPr>
          <p:cNvPr id="5" name="summary-points"/>
          <p:cNvSpPr/>
          <p:nvPr/>
        </p:nvSpPr>
        <p:spPr>
          <a:xfrm>
            <a:off x="609600" y="1905000"/>
            <a:ext cx="10972800" cy="409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Shared IR keeps content separate from presentation.</a:t>
            </a: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Theme tokens travel across Web and PowerPoint.</a:t>
            </a: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Audits detect measurable defects; repairs preserve data.</a:t>
            </a: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52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Human review remains necessary for factual and aesthetic judgment.</a:t>
            </a:r>
            <a:endParaRPr lang="en-US" sz="2100" dirty="0"/>
          </a:p>
        </p:txBody>
      </p:sp>
      <p:sp>
        <p:nvSpPr>
          <p:cNvPr id="6" name="summary::footer"/>
          <p:cNvSpPr/>
          <p:nvPr/>
        </p:nvSpPr>
        <p:spPr>
          <a:xfrm>
            <a:off x="609600" y="62865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4B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RENDERKIT 2D / 0.1   ·   08 / 08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RenderKit 2D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RenderKit 2D — Inspectable Visuals</dc:title>
  <dc:subject>Semantic visual rendering</dc:subject>
  <dc:creator>RenderKit 2D</dc:creator>
  <cp:lastModifiedBy>RenderKit 2D</cp:lastModifiedBy>
  <cp:revision>1</cp:revision>
  <dcterms:created xsi:type="dcterms:W3CDTF">2026-10-25T09:06:02Z</dcterms:created>
  <dcterms:modified xsi:type="dcterms:W3CDTF">2026-10-25T09:06:02Z</dcterms:modified>
</cp:coreProperties>
</file>